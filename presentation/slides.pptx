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62FF"/>
                </a:solidFill>
              </a:rPr>
              <a:t>IBM Bob AI Innovation Hackathon — CHARUSAT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Drug Safety Signal Detector
&amp; Submission Readiness Checker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11274552" cy="60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0E0E0"/>
                </a:solidFill>
              </a:rPr>
              <a:t>Track: AI   |   Team: Syvy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0E0E0"/>
                </a:solidFill>
              </a:rPr>
              <a:t>Samarth Kachhadiya · Vraj Mevawala · Yug Thummar · Yug Moradiya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62FF"/>
                </a:solidFill>
              </a:rPr>
              <a:t>Powered by IBM watsonx.ai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2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Too Much Critical Data, Not Enough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60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000"/>
                </a:solidFill>
              </a:rPr>
              <a:t>💊 Drug Safety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FDA FAERS database: 20M+ adverse event reports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Manual review takes weeks — signals missed for months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Delayed detection caused real harm (e.g. Vioxx: 27,000+ heart attacks)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No scalable automated signal-detection tool available to small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000"/>
                </a:solidFill>
              </a:rPr>
              <a:t>📋 Regulatory CTD Dossiers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Drug approval dossiers: 100,000+ pages across 5 modules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Single missing section → immediate rejection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Cost of rejection: 6–12 months delay + $50–100M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Manual checklist review is error-prone and 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2FF"/>
                </a:solidFill>
              </a:rPr>
              <a:t>Root cause: too much complex, structured data for human review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2FF"/>
                </a:solidFill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 Two-Mode AI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60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000"/>
                </a:solidFill>
              </a:rPr>
              <a:t>Mode 1: Signal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2"/>
              </a:spcBef>
            </a:pPr>
            <a:r>
              <a:rPr sz="1600">
                <a:solidFill>
                  <a:srgbClr val="FFFFFF"/>
                </a:solidFill>
              </a:rPr>
              <a:t>1. Fetch live FDA FAERS adverse event reports via openFDA API</a:t>
            </a:r>
          </a:p>
          <a:p>
            <a:pPr>
              <a:spcBef>
                <a:spcPts val="252"/>
              </a:spcBef>
            </a:pPr>
            <a:r>
              <a:rPr sz="1600">
                <a:solidFill>
                  <a:srgbClr val="FFFFFF"/>
                </a:solidFill>
              </a:rPr>
              <a:t>2. Group reports by drug–event pair</a:t>
            </a:r>
          </a:p>
          <a:p>
            <a:pPr>
              <a:spcBef>
                <a:spcPts val="252"/>
              </a:spcBef>
            </a:pPr>
            <a:r>
              <a:rPr sz="1600">
                <a:solidFill>
                  <a:srgbClr val="FFFFFF"/>
                </a:solidFill>
              </a:rPr>
              <a:t>3. Compute PRR (Proportional Reporting Ratio) statistics</a:t>
            </a:r>
          </a:p>
          <a:p>
            <a:pPr>
              <a:spcBef>
                <a:spcPts val="252"/>
              </a:spcBef>
            </a:pPr>
            <a:r>
              <a:rPr sz="1600">
                <a:solidFill>
                  <a:srgbClr val="FFFFFF"/>
                </a:solidFill>
              </a:rPr>
              <a:t>4. Flag signals: PRR ≥ 2 AND count ≥ 3</a:t>
            </a:r>
          </a:p>
          <a:p>
            <a:pPr>
              <a:spcBef>
                <a:spcPts val="252"/>
              </a:spcBef>
            </a:pPr>
            <a:r>
              <a:rPr sz="1600">
                <a:solidFill>
                  <a:srgbClr val="FFFFFF"/>
                </a:solidFill>
              </a:rPr>
              <a:t>5. IBM watsonx.ai generates plain-language rationale per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000"/>
                </a:solidFill>
              </a:rPr>
              <a:t>Mode 2: Submission 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2"/>
              </a:spcBef>
            </a:pPr>
            <a:r>
              <a:rPr sz="1600">
                <a:solidFill>
                  <a:srgbClr val="FFFFFF"/>
                </a:solidFill>
              </a:rPr>
              <a:t>1. Accept user-pasted dossier section outline</a:t>
            </a:r>
          </a:p>
          <a:p>
            <a:pPr>
              <a:spcBef>
                <a:spcPts val="252"/>
              </a:spcBef>
            </a:pPr>
            <a:r>
              <a:rPr sz="1600">
                <a:solidFill>
                  <a:srgbClr val="FFFFFF"/>
                </a:solidFill>
              </a:rPr>
              <a:t>2. Diff against hardcoded ICH M4 CTD 5-module checklist</a:t>
            </a:r>
          </a:p>
          <a:p>
            <a:pPr>
              <a:spcBef>
                <a:spcPts val="252"/>
              </a:spcBef>
            </a:pPr>
            <a:r>
              <a:rPr sz="1600">
                <a:solidFill>
                  <a:srgbClr val="FFFFFF"/>
                </a:solidFill>
              </a:rPr>
              <a:t>3. Score completeness % per module + overall</a:t>
            </a:r>
          </a:p>
          <a:p>
            <a:pPr>
              <a:spcBef>
                <a:spcPts val="252"/>
              </a:spcBef>
            </a:pPr>
            <a:r>
              <a:rPr sz="1600">
                <a:solidFill>
                  <a:srgbClr val="FFFFFF"/>
                </a:solidFill>
              </a:rPr>
              <a:t>4. IBM watsonx.ai writes a prose gap report with next steps</a:t>
            </a:r>
          </a:p>
          <a:p>
            <a:pPr>
              <a:spcBef>
                <a:spcPts val="252"/>
              </a:spcBef>
            </a:pPr>
            <a:r>
              <a:rPr sz="1600">
                <a:solidFill>
                  <a:srgbClr val="FFFFFF"/>
                </a:solidFill>
              </a:rPr>
              <a:t>5. Results ready to hand to a regulatory reviewer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2FF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System Design — Four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60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377440" cy="82296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91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000"/>
                </a:solidFill>
              </a:rPr>
              <a:t>Streamlit (src/frontend/app.py)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5740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</a:rPr>
              <a:t>Two-tab UI — Signal Detection &amp; Submission Readiness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2377440" cy="82296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788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000"/>
                </a:solidFill>
              </a:rPr>
              <a:t>FastAPI (src/backend/main.py)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546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</a:rPr>
              <a:t>/signals, /readiness, /health, /drugs/search endpoints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2377440" cy="822960"/>
          </a:xfrm>
          <a:prstGeom prst="rect">
            <a:avLst/>
          </a:prstGeom>
          <a:solidFill>
            <a:srgbClr val="500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LLM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000"/>
                </a:solidFill>
              </a:rPr>
              <a:t>watsonx.ai wrapper (src/llm/client.py)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2519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</a:rPr>
              <a:t>meta-llama/llama-3-3-70b-instruct via IBM Cloud EU-DE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37759"/>
            <a:ext cx="2377440" cy="822960"/>
          </a:xfrm>
          <a:prstGeom prst="rect">
            <a:avLst/>
          </a:prstGeom>
          <a:solidFill>
            <a:srgbClr val="8C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9834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000"/>
                </a:solidFill>
              </a:rPr>
              <a:t>openFDA API + local fallback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34924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</a:rPr>
              <a:t>Real-time FAERS queries; sample_faers.json if offline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2FF"/>
                </a:solidFill>
              </a:rPr>
              <a:t>DEMO — MODE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Signal Detection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60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000"/>
                </a:solidFill>
              </a:rPr>
              <a:t>User enters: ASPIRIN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2"/>
              </a:spcBef>
            </a:pPr>
            <a:r>
              <a:rPr sz="1500">
                <a:solidFill>
                  <a:srgbClr val="FFFFFF"/>
                </a:solidFill>
              </a:rPr>
              <a:t>→ openFDA returns 100 FAERS reports</a:t>
            </a:r>
          </a:p>
          <a:p>
            <a:pPr>
              <a:spcBef>
                <a:spcPts val="252"/>
              </a:spcBef>
            </a:pPr>
            <a:r>
              <a:rPr sz="1500">
                <a:solidFill>
                  <a:srgbClr val="FFFFFF"/>
                </a:solidFill>
              </a:rPr>
              <a:t>→ 12 drug–event pairs computed</a:t>
            </a:r>
          </a:p>
          <a:p>
            <a:pPr>
              <a:spcBef>
                <a:spcPts val="252"/>
              </a:spcBef>
            </a:pPr>
            <a:r>
              <a:rPr sz="1500">
                <a:solidFill>
                  <a:srgbClr val="FFFFFF"/>
                </a:solidFill>
              </a:rPr>
              <a:t>→ 3 signals flagged (PRR ≥ 2, count ≥ 3):</a:t>
            </a:r>
          </a:p>
          <a:p>
            <a:pPr>
              <a:spcBef>
                <a:spcPts val="252"/>
              </a:spcBef>
            </a:pPr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52"/>
              </a:spcBef>
            </a:pPr>
            <a:r>
              <a:rPr sz="1500">
                <a:solidFill>
                  <a:srgbClr val="FFFFFF"/>
                </a:solidFill>
              </a:rPr>
              <a:t>  ASPIRIN / GASTROINTESTINAL HAEMORRHAGE</a:t>
            </a:r>
          </a:p>
          <a:p>
            <a:pPr>
              <a:spcBef>
                <a:spcPts val="252"/>
              </a:spcBef>
            </a:pPr>
            <a:r>
              <a:rPr sz="1500">
                <a:solidFill>
                  <a:srgbClr val="FFFFFF"/>
                </a:solidFill>
              </a:rPr>
              <a:t>  PRR: 4.2 | Reports: 18</a:t>
            </a:r>
          </a:p>
          <a:p>
            <a:pPr>
              <a:spcBef>
                <a:spcPts val="252"/>
              </a:spcBef>
            </a:pPr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52"/>
              </a:spcBef>
            </a:pPr>
            <a:r>
              <a:rPr sz="1500">
                <a:solidFill>
                  <a:srgbClr val="FFFFFF"/>
                </a:solidFill>
              </a:rPr>
              <a:t>  ASPIRIN / THROMBOCYTOPENIA</a:t>
            </a:r>
          </a:p>
          <a:p>
            <a:pPr>
              <a:spcBef>
                <a:spcPts val="252"/>
              </a:spcBef>
            </a:pPr>
            <a:r>
              <a:rPr sz="1500">
                <a:solidFill>
                  <a:srgbClr val="FFFFFF"/>
                </a:solidFill>
              </a:rPr>
              <a:t>  PRR: 3.1 | Reports: 7</a:t>
            </a:r>
          </a:p>
          <a:p>
            <a:pPr>
              <a:spcBef>
                <a:spcPts val="252"/>
              </a:spcBef>
            </a:pPr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52"/>
              </a:spcBef>
            </a:pPr>
            <a:r>
              <a:rPr sz="1500">
                <a:solidFill>
                  <a:srgbClr val="FFFFFF"/>
                </a:solidFill>
              </a:rPr>
              <a:t>  ASPIRIN / ANAPHYLACTIC REACTION</a:t>
            </a:r>
          </a:p>
          <a:p>
            <a:pPr>
              <a:spcBef>
                <a:spcPts val="252"/>
              </a:spcBef>
            </a:pPr>
            <a:r>
              <a:rPr sz="1500">
                <a:solidFill>
                  <a:srgbClr val="FFFFFF"/>
                </a:solidFill>
              </a:rPr>
              <a:t>  PRR: 2.4 | Reports: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000"/>
                </a:solidFill>
              </a:rPr>
              <a:t>watsonx.ai rationale (sample):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1031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</a:rPr>
              <a:t>"Gastrointestinal haemorrhage is a well-documented adverse effect of aspirin due to its inhibition of prostaglandin synthesis, which reduces the protective gastric mucosa. The PRR of 4.2 indicates that this event is reported 4× more frequently for aspirin compared to all other drugs in the dataset — consistent with its known mechanism. Recommend reviewing concomitant use of PPIs in at-risk patients."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2FF"/>
                </a:solidFill>
              </a:rPr>
              <a:t>IBM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How We Used IBM watsonx.ai + IBM Bob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60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000"/>
                </a:solidFill>
              </a:rPr>
              <a:t>IBM watsonx.ai — Load-Bearing LLM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Model: meta-llama/llama-3-3-70b-instruct  |  Endpoint: eu-de.ml.cloud.ibm.com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Signal Detection: LLM receives top PRR-flagged drug–event pairs → returns plain-language clinical rationale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Submission Readiness: LLM receives missing CTD sections → returns actionable prose gap report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Both calls are real inference requests — not decorative. Removing them degrades output to raw statistics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000"/>
                </a:solidFill>
              </a:rPr>
              <a:t>IBM Bob — AI-Assisted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Used IBM Bob (agent mode) to scaffold the entire repo, debug watsonx.ai SDK integration,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  fix openFDA API auth issues, and generate all documentation.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• Bob's watsonx.ai knowledge was critical: identified that only 'instruct' models support text_generation.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2FF"/>
                </a:solidFill>
              </a:rPr>
              <a:t>IMPACT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We Achieved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60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60320" cy="128016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20M+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</a:rPr>
              <a:t>FAERS reports
accessible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645920"/>
            <a:ext cx="2560320" cy="128016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6916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PRR ≥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</a:rPr>
              <a:t>Pharmacovigilance
signal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560320" cy="128016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916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</a:rPr>
              <a:t>ICH M4 CTD
sections checked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645920"/>
            <a:ext cx="2560320" cy="128016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6916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&lt; 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2860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</a:rPr>
              <a:t>End-to-end latency
per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✅ Both modes fully functional end-to-end (real FDA data → real LLM reasoning → user-readable output)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✅ Offline fallback: demo never shows an error screen — bundled 101-record FAERS cache activates automatically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✅ Transparent limitations: PRR thresholds disclosed as heuristics; LLM output flagged for professional review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✅ Single-command launch: python run.py starts both backend + frontend with auto-venv and browser open</a:t>
            </a:r>
          </a:p>
          <a:p>
            <a:pPr>
              <a:spcBef>
                <a:spcPts val="252"/>
              </a:spcBef>
            </a:pPr>
            <a:r>
              <a:rPr sz="1700">
                <a:solidFill>
                  <a:srgbClr val="FFFFFF"/>
                </a:solidFill>
              </a:rPr>
              <a:t>🔭 Future: Disproportionality Analysis (ROR, BCPNN), full CTD depth scoring, multi-drug comparison mode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2FF"/>
                </a:solidFill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Team Syvy — IBM Bob AI Hackathon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60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73152" cy="82296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Samarth Kachhadiya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000"/>
                </a:solidFill>
              </a:rPr>
              <a:t>Team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28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Backend API, watsonx.ai integration, openFDA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88920"/>
            <a:ext cx="73152" cy="82296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Vraj Mevawala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000"/>
                </a:solidFill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803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Streamlit UI, drug search, offline mode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79"/>
            <a:ext cx="73152" cy="82296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Yug Thummar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000"/>
                </a:solidFill>
              </a:rPr>
              <a:t>Data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931919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PRR algorithm, FAERS data pipeline, CTD checklist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73152" cy="82296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Yug Moradiya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000"/>
                </a:solidFill>
              </a:rPr>
              <a:t>DevOps / 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983479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run.py launcher, GitHub Actions,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62FF"/>
                </a:solidFill>
              </a:rPr>
              <a:t>Track: AI  |  CHARUSAT  |  Powered by IBM watsonx.ai + IBM Bob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